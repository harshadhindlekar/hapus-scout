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285750"/>
            <a:ext cx="11049000" cy="30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400" b="1">
                <a:solidFill>
                  <a:srgbClr val="173F2E"/>
                </a:solidFill>
                <a:latin typeface="Arial"/>
              </a:defRPr>
            </a:pPr>
            <a:r>
              <a:t>Hapus Scout™ Enterprise — Smart AI Inspection for Mango Farms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609600"/>
            <a:ext cx="11049000" cy="190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200" b="0">
                <a:solidFill>
                  <a:srgbClr val="435749"/>
                </a:solidFill>
                <a:latin typeface="Arial"/>
              </a:defRPr>
            </a:pPr>
            <a:r>
              <a:t>Helping Alphonso mango farm workers spot crop diseases early and share instant photo reports with farm managers.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952500"/>
            <a:ext cx="5238750" cy="1714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73F2E"/>
                </a:solidFill>
                <a:latin typeface="Arial"/>
              </a:defRPr>
            </a:pPr>
            <a:r>
              <a:t>1. Slow Disease Detection Causes 40% Crop Loss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143000"/>
            <a:ext cx="5238750" cy="809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273D30"/>
                </a:solidFill>
                <a:latin typeface="Arial"/>
              </a:defRPr>
            </a:pPr>
            <a:r>
              <a:t>• Problem: Alphonso farmers lose nearly 40% of their mangoes each year because diseases spread unseen.</a:t>
            </a:r>
          </a:p>
          <a:p>
            <a:pPr>
              <a:spcAft>
                <a:spcPts val="200"/>
              </a:spcAft>
              <a:defRPr sz="950" b="0">
                <a:solidFill>
                  <a:srgbClr val="273D30"/>
                </a:solidFill>
                <a:latin typeface="Arial"/>
              </a:defRPr>
            </a:pPr>
            <a:r>
              <a:t>• Solution: Workers upload a photo and get a clear AI checkup report in less than 7 seconds.</a:t>
            </a:r>
          </a:p>
          <a:p>
            <a:pPr>
              <a:spcAft>
                <a:spcPts val="200"/>
              </a:spcAft>
              <a:defRPr sz="950" b="0">
                <a:solidFill>
                  <a:srgbClr val="273D30"/>
                </a:solidFill>
                <a:latin typeface="Arial"/>
              </a:defRPr>
            </a:pPr>
            <a:r>
              <a:t>• Impact: Saves ₹1,500 per expert visit; allows 1 manager to easily look after 500+ orchard blocks.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81750" y="952500"/>
            <a:ext cx="5238750" cy="1714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73F2E"/>
                </a:solidFill>
                <a:latin typeface="Arial"/>
              </a:defRPr>
            </a:pPr>
            <a:r>
              <a:t>2. Language Barrier for Farm Workers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81750" y="1143000"/>
            <a:ext cx="5238750" cy="809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273D30"/>
                </a:solidFill>
                <a:latin typeface="Arial"/>
              </a:defRPr>
            </a:pPr>
            <a:r>
              <a:t>• Problem: Over 85% of workers speak only Marathi or Hindi and cannot use complicated English apps.</a:t>
            </a:r>
          </a:p>
          <a:p>
            <a:pPr>
              <a:spcAft>
                <a:spcPts val="200"/>
              </a:spcAft>
              <a:defRPr sz="950" b="0">
                <a:solidFill>
                  <a:srgbClr val="273D30"/>
                </a:solidFill>
                <a:latin typeface="Arial"/>
              </a:defRPr>
            </a:pPr>
            <a:r>
              <a:t>• Solution: Simple 1-click switch between English, Marathi (मराठी), and Hindi (हिंदी).</a:t>
            </a:r>
          </a:p>
          <a:p>
            <a:pPr>
              <a:spcAft>
                <a:spcPts val="200"/>
              </a:spcAft>
              <a:defRPr sz="950" b="0">
                <a:solidFill>
                  <a:srgbClr val="273D30"/>
                </a:solidFill>
                <a:latin typeface="Arial"/>
              </a:defRPr>
            </a:pPr>
            <a:r>
              <a:t>• Impact: Workers can report symptoms in their own native language with zero training needed.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2190750"/>
            <a:ext cx="5238750" cy="1714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73F2E"/>
                </a:solidFill>
                <a:latin typeface="Arial"/>
              </a:defRPr>
            </a:pPr>
            <a:r>
              <a:t>3. Wasting Money on Wrong Pesticide Sprays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" y="2381250"/>
            <a:ext cx="5238750" cy="809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273D30"/>
                </a:solidFill>
                <a:latin typeface="Arial"/>
              </a:defRPr>
            </a:pPr>
            <a:r>
              <a:t>• Problem: Scared farmers spend ₹15,000 to ₹40,000 per acre buying wrong sprays, harming crop exports.</a:t>
            </a:r>
          </a:p>
          <a:p>
            <a:pPr>
              <a:spcAft>
                <a:spcPts val="200"/>
              </a:spcAft>
              <a:defRPr sz="950" b="0">
                <a:solidFill>
                  <a:srgbClr val="273D30"/>
                </a:solidFill>
                <a:latin typeface="Arial"/>
              </a:defRPr>
            </a:pPr>
            <a:r>
              <a:t>• Solution: AI follows official government farming rules (ICAR) and separates facts from guesses.</a:t>
            </a:r>
          </a:p>
          <a:p>
            <a:pPr>
              <a:spcAft>
                <a:spcPts val="200"/>
              </a:spcAft>
              <a:defRPr sz="950" b="0">
                <a:solidFill>
                  <a:srgbClr val="273D30"/>
                </a:solidFill>
                <a:latin typeface="Arial"/>
              </a:defRPr>
            </a:pPr>
            <a:r>
              <a:t>• Impact: Cuts pesticide costs by 40% to 60% and keeps mangoes safe for international export.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1750" y="2190750"/>
            <a:ext cx="5238750" cy="1714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73F2E"/>
                </a:solidFill>
                <a:latin typeface="Arial"/>
              </a:defRPr>
            </a:pPr>
            <a:r>
              <a:t>4. Lost Paper Records &amp; Messy Chat Messages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1750" y="2381250"/>
            <a:ext cx="5238750" cy="809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273D30"/>
                </a:solidFill>
                <a:latin typeface="Arial"/>
              </a:defRPr>
            </a:pPr>
            <a:r>
              <a:t>• Problem: Farm notes get lost on WhatsApp or paper, giving managers no real inspection history.</a:t>
            </a:r>
          </a:p>
          <a:p>
            <a:pPr>
              <a:spcAft>
                <a:spcPts val="200"/>
              </a:spcAft>
              <a:defRPr sz="950" b="0">
                <a:solidFill>
                  <a:srgbClr val="273D30"/>
                </a:solidFill>
                <a:latin typeface="Arial"/>
              </a:defRPr>
            </a:pPr>
            <a:r>
              <a:t>• Solution: Automatic digital library stores every photo, symptom report, and manager review.</a:t>
            </a:r>
          </a:p>
          <a:p>
            <a:pPr>
              <a:spcAft>
                <a:spcPts val="200"/>
              </a:spcAft>
              <a:defRPr sz="950" b="0">
                <a:solidFill>
                  <a:srgbClr val="273D30"/>
                </a:solidFill>
                <a:latin typeface="Arial"/>
              </a:defRPr>
            </a:pPr>
            <a:r>
              <a:t>• Impact: Works for small 2-acre family farms as well as large 1,000-acre commercial estates.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" y="3429000"/>
            <a:ext cx="11049000" cy="1714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173F2E"/>
                </a:solidFill>
                <a:latin typeface="Arial"/>
              </a:defRPr>
            </a:pPr>
            <a:r>
              <a:t>KEY ADVANTAGES: COST, SPEED &amp; SCALABILITY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" y="3619500"/>
            <a:ext cx="11049000" cy="7143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273D30"/>
                </a:solidFill>
                <a:latin typeface="Arial"/>
              </a:defRPr>
            </a:pPr>
            <a:r>
              <a:t>• LOW COST: 90%+ cheaper to run by using smart lightweight local AI models on low-cost devices.</a:t>
            </a:r>
          </a:p>
          <a:p>
            <a:pPr>
              <a:spcAft>
                <a:spcPts val="200"/>
              </a:spcAft>
              <a:defRPr sz="950" b="0">
                <a:solidFill>
                  <a:srgbClr val="273D30"/>
                </a:solidFill>
                <a:latin typeface="Arial"/>
              </a:defRPr>
            </a:pPr>
            <a:r>
              <a:t>• FAST SPEED: Under 7 seconds per photo checkup so workers get instant answers right on the field.</a:t>
            </a:r>
          </a:p>
          <a:p>
            <a:pPr>
              <a:spcAft>
                <a:spcPts val="200"/>
              </a:spcAft>
              <a:defRPr sz="950" b="0">
                <a:solidFill>
                  <a:srgbClr val="273D30"/>
                </a:solidFill>
                <a:latin typeface="Arial"/>
              </a:defRPr>
            </a:pPr>
            <a:r>
              <a:t>• EASY TO SCALE: Native Marathi/Hindi support allows rapid deployment across all Konkan mango farms.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" y="4619625"/>
            <a:ext cx="11049000" cy="152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6D6345"/>
                </a:solidFill>
                <a:latin typeface="Arial"/>
              </a:defRPr>
            </a:pPr>
            <a:r>
              <a:t>SAFETY NOTICE &amp; PROJECT LINK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500" y="4791075"/>
            <a:ext cx="11049000" cy="381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0">
                <a:solidFill>
                  <a:srgbClr val="6D6345"/>
                </a:solidFill>
                <a:latin typeface="Arial"/>
              </a:defRPr>
            </a:pPr>
            <a:r>
              <a:t>• Farm Safety Notice: AI assists initial checking only. Certified farming experts must verify before chemical spraying.</a:t>
            </a:r>
          </a:p>
          <a:p>
            <a:pPr>
              <a:spcAft>
                <a:spcPts val="200"/>
              </a:spcAft>
              <a:defRPr sz="850" b="0">
                <a:solidFill>
                  <a:srgbClr val="6D6345"/>
                </a:solidFill>
                <a:latin typeface="Arial"/>
              </a:defRPr>
            </a:pPr>
            <a:r>
              <a:t>• Open Code Repository: https://github.com/HarshadHindlekar/Hapus-Scout.git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